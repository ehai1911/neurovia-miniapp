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23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 (30 сек). Вчера — продуктовое мышление, сегодня — мышление методолога: видеть законченную ценность внутри пути. Итог: Паспорт трипвайера (первого платного результата) + черновой оффер.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на шаге 6 маршрута. Вчера — путь клиента. Сегодня — законченная ценность внутри пути. ~1 мин.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МОСТ (0–5 мин, слайды 1–4). Открыть Паспорт продукта (Д3, стр. 8). 2–3 человека пишут в чат: «Что увидел иначе?». Нет Паспорта — 2 минуты: набросать А, Б и 3 шага любой своей услуги.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вопрос дня. Дать прозвучать целиком. Не придумываем новый продукт — ищем ценную часть внутри построенного пути.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(5–11 мин, слайды 5–8). Спросить группу: обязательно ли клиенту покупать весь путь сразу? Между «мы не знакомы» и «большой продукт» нужны ступени: бесплатная польза → первый недорогой платный результат → большой продукт.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КЛЮЧЕВОЙ МОМЕНТ — логика воронки. Канал — дорога, привлекает внимание. Точка входа — дверь: куда человек попадает (страница, бот, эфир). Лид-магнит — бесплатная польза внутри входа, берёт контакт. Трипвайер — недорогой законченный результат: первая оплата, снимает страх. Основной продукт — весь путь. Доверие растёт по ступеням. Сегодня наполняем вход: находим ТРИПВАЙЕР («платную тестовую версию» из Дня 3) из единиц ценности вашего продукта. Не «недодаём»: дёшево, но полный результат. Цену и условия НЕ обсуждаем — это мастер-класс Гульмиры.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ГЛАВНАЯ СХЕМА ДНЯ. Законченная ценность = клиент понял → сделал → получил (результат + артефакт на руках). Проверка: если клиент остановится здесь — у него есть и результат, и что взять с собой?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Четыре слова — читать вслух, не углубляться (1–2 мин): шаг, единица ценности, артефакт, трипвайер (первая платная единица ценности).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УРОВЕНЬ 1 (11–19 мин). Как в Дне 3: слайд-вопрос → 2 мин в чат → 2–3 ответа вслух → разбор. Здесь результат можно потрогать.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Кейс 1. Просить в чат: что клиент ПОЙМЁТ, СДЕЛАЕТ, ПОЛУЧИТ на руки в первой законченной части? Если не идёт — подсказать про первый шаг «потребности».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Разбор. Ключ: артефакт на руках (схема планировки). Ценность есть, даже если клиент дальше не закажет проект. Формат появился после.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 — только если группа идёт быстрее графика. Иначе сразу на слайд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Резерв, разбор. Эскиз можно унести с собой — ценность есть и без пошива.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УРОВЕНЬ 2 (19–28 мин). Физического объекта нет, но результат и артефакт есть — их нужно назвать.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Кейс 2 — связка с Днём 3, где диагностика была инструментом. Просить в чат про первую законченную часть «диагностики».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Разбор. Диагностика стала продуктом не сама по себе — у клиента есть результат и артефакт (карта разрывов + первые действия).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 — только при запасе времени. Иначе на слайд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Резерв, разбор. Единица ценности — не «занятие», а законченное изменение с результатом на руках.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УРОВЕНЬ 3 · WOW (28–38 мин). Не оцениваем метод. Вопрос: если результат нельзя положить на стол — какой артефакт клиент унесёт с собой? Отрепетировать заранее.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Кейс психолога. Просить в чат: что клиент понял, сделал, получил. Не спорим о методе.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Разбор. Артефакт создать можно даже там, где результат нематериален: карта, схема,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 — только при запасе времени. Иначе на слайд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Резерв, разбор. Сессия — не продукт; продукт — то, что клиент унёс: цель и шаг.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Вывод (38–40). Три уровня — один принцип: артефакт есть всегда. Показать три иконки и три артефакта.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WOW. Пауза. «Первый модуль курса — не обязательно первый продукт линейки. А одна законченная часть внутри третьего модуля может стать сильнейшей точкой входа».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ПРАКТИКА (42–64 мин, ~22 мин). Тетрадь Дня 4, стр. 5. Пять полей для 2–3 шагов Паспорта. Предупредить за 3 минуты. В конце 1–2 примера в чат — разобрать вслух. Частая ошибка: вместо результата пишут формат («урок», «созвон») — возвращать вопросом: «Что клиент унесёт на руках?».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Тетрадь, стр. 6. Три вопроса; выбрать ОДНУ единицу ценности — свой трипвайер: быстро даёт результат, понятно, за что платить. (Лид-магнит — бесплатная единица поменьше — по желанию, если останется время.)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(64–68). Формат — последним: понять → сделать → получить → и только потом формат.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(68–71). Паспорт трипвайера, тетрадь стр. 7 — главный артефакт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(71–76). Тетрадь стр. 8. Черновой оффер по формуле; 2 человека пишут в чат. Цену и выгоды не обсуждаем.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(76–78). Фраза в чат: «Раньше мой первый платный продукт был…, теперь я вижу его как…».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(78–82 мин). Neurovia Lab: показать весь маршрут. Автоматизировать можно логику пути клиента, а не хаос. Затем ~2 минуты УСТНО про платформу — только по данным руководителя проекта (слайда нет; ссылку отправить в чат). Черновик фразы — в сценарии, блок 6. Не придумывать возможностей, которых нет в материалах.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(82–90: слайды 33–35). Эстафета: «Вы видите ценность своего трипвайера. А увидит ли её клиент?» → Гульмира.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ПРОДАТЬ МАСТЕР-КЛАСС (~4 мин). Три практики; выгода — продающее описание, структура презентации, уверенность назвать цену. Вписать дату, формат, стоимость, способ записи; призыв: «напишите + в чат».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Спасибо. Напомнить: Паспорт трипвайера понадобится на мастер-классе Гульмиры.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446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ПРАКТИКУМ · ДЕНЬ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Точка входа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7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большого продукта — к первому платному результату клиента (трипвайеру)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Асемгуль Жарасова · методолог-стратег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Тренируем мышление методолога · 90 минут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сейчас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Экспертность ✓  Сегмент ✓  Проблема ✓  Решение ✓  Продукт ✓ — сегодня следующая остановка.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09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6453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7809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39165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0521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0187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918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9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-457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ЭКСПЕРТНОСТЬ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27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8F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427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678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5630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73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5630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8140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986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2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986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342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342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085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96984" y="2935224"/>
            <a:ext cx="621792" cy="621792"/>
          </a:xfrm>
          <a:prstGeom prst="ellipse">
            <a:avLst/>
          </a:prstGeom>
          <a:solidFill>
            <a:srgbClr val="8266A0"/>
          </a:solidFill>
          <a:ln w="12700">
            <a:solidFill>
              <a:srgbClr val="8266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969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02208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2105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A09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105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A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8356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АВТОВОРОНКА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4572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4572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Вчера: увидеть путь клиента.  Сегодня: увидеть законченную ценность внутри пути.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ИЗ ДНЯ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Откройте свой Паспорт продукта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Дня 3, страница 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97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чем клиент приходит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246888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4A2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017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основных шагов пути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24688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6B8F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чему он приходит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DCE6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2976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кого получилось увидеть свой продукт иначе, чем до практикума?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Скажите в чат или вслух — 30 секунд.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 ДНЯ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 моего продукта я могу продать уже сейчас —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FC6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раньше, чем дострою всё до конца?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придумываем новый продукт. Ищем уже существующий ценный переход внутри пути клиента.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Обязательно ли клиенту покупать весь путь сразу?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«с холода» ещё: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 вас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5146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уверен в вашем методе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5146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готов к большому обязательству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06840" y="25146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25146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уверен, что получит 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3B5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0233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Между «мы не знакомы» и «большой продукт» нужны ступени: бесплатная польза → первый недорогой платный результат → большой продукт.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94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ВОРОНКИ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клиент идёт по воронке — и где здесь ваш трипвайер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2C3570"/>
          </a:solidFill>
          <a:ln w="15240">
            <a:solidFill>
              <a:srgbClr val="8A82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346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дорога: привлекает внимание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 · реклама · поиск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31089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54096" y="219456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2C3570"/>
          </a:solidFill>
          <a:ln w="15240">
            <a:solidFill>
              <a:srgbClr val="8A82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91256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191256" y="28346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дверь: куда человек попадает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91256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· бот · эфир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0056" y="31089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85232" y="219456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2C3570"/>
          </a:solidFill>
          <a:ln w="15240">
            <a:solidFill>
              <a:srgbClr val="8A82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22392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ЛИД-МАГНИТ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22392" y="28346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бесплатная польза внутри входа: берём контакт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22392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· гайд · мини-урок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31089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16368" y="219456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2C3570"/>
          </a:solidFill>
          <a:ln w="38100">
            <a:solidFill>
              <a:srgbClr val="6B8F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53528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9D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ТРИПВАЙЕР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653528" y="28346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недорогой законченный результат: первая оплата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53528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с картой · сессия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82328" y="310896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47504" y="2194560"/>
            <a:ext cx="1965960" cy="2514600"/>
          </a:xfrm>
          <a:prstGeom prst="roundRect">
            <a:avLst>
              <a:gd name="adj" fmla="val 4651"/>
            </a:avLst>
          </a:prstGeom>
          <a:solidFill>
            <a:srgbClr val="2C3570"/>
          </a:solidFill>
          <a:ln w="15240">
            <a:solidFill>
              <a:srgbClr val="8A82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84664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ПРОДУКТ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884664" y="283464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весь путь: главная прибыль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84664" y="4023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практикум · программа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892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AFC6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 наполняем вход: находим в вашем продукте единицы ценности и выбираем ТРИПВАЙЕР — первый платный результат.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растёт по ступеням: лид-магнит показывает, что вы полезны; трипвайер снимает страх первой оплаты; большой продукт покупают уже с доверием.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СХЕМА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Законченная ценность = понять → сделать → получить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4A6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ПОНЯТЬ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что-то понял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21945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D4A2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СДЕЛАТЬ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что-то сделал сам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6B8F7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ПОЛУЧИТЬ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+ артефакт на руках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клиент остановится здесь — у него уже есть и результат, и то, что можно взять с собой.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— карта, план, схема, решение, список, готовый текст.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НАЧАТЬ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слова, с которыми работаем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D973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86200" y="2011680"/>
            <a:ext cx="7635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20116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пути клиента между А и Б — не «урок» и не «созвон»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D4A2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9077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ЕДИНИЦА ЦЕННОСТИ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86200" y="2907792"/>
            <a:ext cx="7635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290779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законченный цикл: клиент понял → сделал → получил результат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4A6FA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039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86200" y="3803904"/>
            <a:ext cx="7635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380390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клиент уносит на руках: карта, план, схема, решение, список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700016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6B8F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70001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ТРИПВАЙЕР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886200" y="4700016"/>
            <a:ext cx="7635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DE6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470001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платная единица ценности: недорогой законченный результат («платная тестовая версия»)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733288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DCE6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73328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 мы учимся видеть такие законченные части внутри своего продукта.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Материальный мир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результат можно потрогать. Ищем в большом пути первую законченную часть — с результатом и артефактом на руках.</a:t>
            </a:r>
            <a:endParaRPr lang="en-US" sz="1500" dirty="0"/>
          </a:p>
        </p:txBody>
      </p:sp>
      <p:pic>
        <p:nvPicPr>
          <p:cNvPr id="6" name="Image 0" descr="/home/claude/icons/mat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КЕЙС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Дизайнер интерьера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понимает, как организовать пространство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10312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ПУТЬ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6517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потребности → планировка → концепция → визуализация → документация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реализованный интерьер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в </a:t>
            </a:r>
            <a:r>
              <a:rPr lang="en-US" sz="1600" i="1" dirty="0" err="1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</a:t>
            </a:r>
            <a:r>
              <a:rPr lang="ru-RU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или проговорите</a:t>
            </a:r>
            <a:r>
              <a:rPr lang="en-US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клиент ПОЙМЁТ, СДЕЛАЕТ и ПОЛУЧИТ на руки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первой законченной части? — 2 минуты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Дизайнер интерьера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функции нужны его пространству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вместе с дизайнером выбрал планировочное решение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решение планировки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3B5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руках: схема планировки квартиры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 есть, даже если клиент дальше не закажет проект. Формат («планировочная сессия») появился уже после.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КЕЙС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Ателье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одежды на событие, не знает, что выбрать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10312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ПУТЬ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6517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мерки → фасон → эскиз → пошив → примерка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сшитый наряд по фигуре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в </a:t>
            </a:r>
            <a:r>
              <a:rPr lang="en-US" sz="1600" i="1" dirty="0" err="1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</a:t>
            </a:r>
            <a:r>
              <a:rPr lang="ru-RU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или проговорите</a:t>
            </a:r>
            <a:r>
              <a:rPr lang="en-US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клиент ПОЙМЁТ, СДЕЛАЕТ и ПОЛУЧИТ на руки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первой законченной части? — 2 минуты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Ателье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 силуэт ему идёт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выбрал фасон и ткань вместе с мастером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утверждённый образ наряда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3B5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руках: эскиз наряда с мерками и тканью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Эскиз уже можно унести с собой — даже если шить будут в другом месте.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Интеллектуальный мир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Физического объекта нет. Но результат и артефакт есть — просто их нужно назвать.</a:t>
            </a:r>
            <a:endParaRPr lang="en-US" sz="1500" dirty="0"/>
          </a:p>
        </p:txBody>
      </p:sp>
      <p:pic>
        <p:nvPicPr>
          <p:cNvPr id="6" name="Image 0" descr="/home/claude/icons/intel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2651760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 · КЕЙС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Бухгалтер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предприниматель в финансовом хаосе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10312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ПУТЬ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6517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→ система → регулярное управление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управляемые финансы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в чат: что клиент ПОЙМЁТ, СДЕЛАЕТ и ПОЛУЧИТ на руки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первой законченной части? — 2 минуты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Бухгалтер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теряется управляемость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разобрал деньги и обязательства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понятную картину и первые действия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3B5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руках: карта финансовых разрывов + список первых действий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Диагностика стала продуктом не сама по себе, а потому что у клиента есть результат и артефакт на руках.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 · КЕЙС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Репетитор по математике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решает, но не понимает, почему ошибается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10312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ПУТЬ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6517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ошибок → тренировка → самопроверка → самостоятельные задачи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типовые задачи сам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в </a:t>
            </a:r>
            <a:r>
              <a:rPr lang="en-US" sz="1600" i="1" dirty="0" err="1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</a:t>
            </a:r>
            <a:r>
              <a:rPr lang="ru-RU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или проговорите</a:t>
            </a:r>
            <a:r>
              <a:rPr lang="en-US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клиент ПОЙМЁТ, СДЕЛАЕТ и ПОЛУЧИТ на руки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первой законченной части? — 2 минуты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Репетитор по математике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какого типа его ошибки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решил задачи-«ловушки» и объяснил вслух свои шаги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умение замечать ошибку самому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3B5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руках: карта моих ошибок + 3 личные проверки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Единица ценности — не «занятие», а законченное изменение с результатом на руках.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2752344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 · 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Трансформационный мир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оцениваем метод. Мы ищем, что клиент унесёт на руках.</a:t>
            </a:r>
            <a:endParaRPr lang="en-US" sz="1600" dirty="0"/>
          </a:p>
        </p:txBody>
      </p:sp>
      <p:pic>
        <p:nvPicPr>
          <p:cNvPr id="6" name="Image 0" descr="/home/claude/icons/transform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868680"/>
            <a:ext cx="1783080" cy="1783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200400"/>
            <a:ext cx="9601200" cy="1463040"/>
          </a:xfrm>
          <a:prstGeom prst="roundRect">
            <a:avLst>
              <a:gd name="adj" fmla="val 6250"/>
            </a:avLst>
          </a:prstGeom>
          <a:solidFill>
            <a:srgbClr val="2C357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3200400"/>
            <a:ext cx="8869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«Если результат нельзя положить на стол — какой артефакт клиент может унести с собой?»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спорим: работает ли метод. Спрашиваем: что клиент понял, сделал и получил.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 · КЕЙС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Психолог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 мной постоянно происходит одно и то же, но я не понимаю почему»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10312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ПУТЬ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6517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осознание → различение → новый способ → практика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способен иначе проходить конфликт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в </a:t>
            </a:r>
            <a:r>
              <a:rPr lang="en-US" sz="1600" i="1" dirty="0" err="1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</a:t>
            </a:r>
            <a:r>
              <a:rPr lang="ru-RU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или проговорите</a:t>
            </a:r>
            <a:r>
              <a:rPr lang="en-US" sz="1600" i="1" dirty="0" smtClean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клиент ПОЙМЁТ, СДЕЛАЕТ и ПОЛУЧИТ на руки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первой законченной части? — 2 минуты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Психолог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увидел повторяющийся механизм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разобрал 2–3 свои реальные ситуации по модели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увидел точку, где можно реагировать иначе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3B5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руках: карта сценария + точка изменения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нельзя положить на стол — но артефакт создать можно: карта, схема, решение.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3 · КЕЙС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Коуч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973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 перемен, но не понимает, с чего начать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10312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ПУТЬ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6517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запроса → цель → план → действия → закрепление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103120"/>
            <a:ext cx="2926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65176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 действовать к своей цели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8803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Напишите в чат: что клиент ПОЙМЁТ, СДЕЛАЕТ и ПОЛУЧИТ на руки</a:t>
            </a:r>
            <a:endParaRPr lang="en-US" sz="1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первой законченной части? — 2 минуты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3B5D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Коуч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он на самом деле хочет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сформулировал цель своими словами и выбрал первый шаг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2331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ясность и решение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3B5D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77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руках: цель на одной странице + первый шаг на 7 дней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6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Сессия — не продукт. Продукт — то, что клиент унёс с собой: цель и шаг.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5486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EFD9B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Артефакт есть всегда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B08968"/>
            </a:solidFill>
            <a:prstDash val="solid"/>
          </a:ln>
        </p:spPr>
      </p:sp>
      <p:pic>
        <p:nvPicPr>
          <p:cNvPr id="6" name="Image 0" descr="/home/claude/icons/mat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01168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МАТЕРИАЛЬНЫЙ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планировки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pic>
        <p:nvPicPr>
          <p:cNvPr id="10" name="Image 1" descr="/home/claude/icons/intell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011680"/>
            <a:ext cx="1463040" cy="1463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ИНТЕЛЛЕКТУАЛЬНЫЙ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финансовых разрывов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19202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8266A0"/>
            </a:solidFill>
            <a:prstDash val="solid"/>
          </a:ln>
        </p:spPr>
      </p:sp>
      <p:pic>
        <p:nvPicPr>
          <p:cNvPr id="14" name="Image 2" descr="/home/claude/icons/trans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2011680"/>
            <a:ext cx="1463040" cy="1463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3816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2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ТРАНСФОРМАЦИОННЫЙ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832104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сценария + точка изменения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DCE6D9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Даже если результат нельзя положить на стол — артефакт можно создать: карта, план, решение, список.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F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не режем продукт по урокам.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2608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режем его по законченным результатам клиента.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модуль курса — не обязательно первый продукт линейки.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Найдите свою единицу ценности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Дня 4, страница 5. Сделайте так для 2–3 шагов вашего Паспорта продукта.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411480" cy="411480"/>
          </a:xfrm>
          <a:prstGeom prst="ellipse">
            <a:avLst/>
          </a:prstGeom>
          <a:solidFill>
            <a:srgbClr val="B0896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77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из моего Паспорта (Д3, стр. 8)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клиент должен ПОНЯТЬ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666744"/>
            <a:ext cx="411480" cy="411480"/>
          </a:xfrm>
          <a:prstGeom prst="ellipse">
            <a:avLst/>
          </a:prstGeom>
          <a:solidFill>
            <a:srgbClr val="D97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2102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он должен СДЕЛАТЬ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4288536"/>
            <a:ext cx="411480" cy="411480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4281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он ПОЛУЧИТ — результат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4910328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910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8646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унесёт на руках — артефакт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DCE6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Пишите то, что реально происходит с клиентом. Один пример — в чат.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· ВЫБОР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Проверьте и выберите ОДНУ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Тетрадь, страница 6. Три вопроса к каждой единице ценности: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B5D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331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результат — понятное новое состояние клиента?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B5D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3108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артефакт — что клиент уносит на руках?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B5D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3886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клиент остановится здесь — ценность уже есть?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3B5D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7548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«да» — сильный кандидат. Выберите ОДНУ единицу — свой ТРИПВАЙЕР: она быстро даёт результат, и клиенту понятно, за что он платит.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— ПОСЛЕДНИМ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начинайте с «хочу сделать вебинар»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3B5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ПОНЯТЬ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3B5D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СДЕЛАТЬ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3B5D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ПОЛУЧИТЬ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606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06840" y="237744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6B8F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23774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диагностический разбор · воркшоп · практикум · сессия · мини-программа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DCE6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572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обслуживает результат — не наоборот.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136392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· ТЕТРАДЬ, СТР.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Паспорт трипвайера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96596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2578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624328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0080" y="32369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поймёт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3282696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0080" y="38953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сделает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3941064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40080" y="4553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получит (результат)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4599432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40080" y="5212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525780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26364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 на руках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96596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263640" y="25786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/ срок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58200" y="2624328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263640" y="32369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проверим результат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58200" y="3282696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263640" y="38953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естественный шаг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58200" y="3941064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FBF8F0"/>
          </a:solidFill>
          <a:ln w="12700">
            <a:solidFill>
              <a:srgbClr val="C9BFA5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результат — потом формат.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712464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ЧЕРНОВОЙ ОФФЕР · ТЕТРАДЬ, СТР.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к эстафете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3B5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116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помогаю [кому], который сейчас [А₁],</a:t>
            </a:r>
            <a:endParaRPr lang="en-US" sz="2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[формат / срок] пройти [ключевой переход]</a:t>
            </a:r>
            <a:endParaRPr lang="en-US" sz="2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получить [Б₁ / конкретный результат].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DCE6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572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 достаточно черновика. Ценность, выгоды, цена и условия — следующий этап.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AFC6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«Раньше мой первый платный продукт был ___.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я вижу его как ___».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в чат или скажите вслух — одной фразой.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NEUROVIA 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Теперь появляется смысл строить автоворонку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509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6453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809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39165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20521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018776" y="3246120"/>
            <a:ext cx="1191768" cy="0"/>
          </a:xfrm>
          <a:prstGeom prst="line">
            <a:avLst/>
          </a:prstGeom>
          <a:noFill/>
          <a:ln w="25400">
            <a:solidFill>
              <a:srgbClr val="C9BFA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918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9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8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-457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ЭКСПЕРТНОСТЬ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27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8F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427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7678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5630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73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630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8140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986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2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986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342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342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0852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96984" y="2935224"/>
            <a:ext cx="621792" cy="621792"/>
          </a:xfrm>
          <a:prstGeom prst="ellipse">
            <a:avLst/>
          </a:prstGeom>
          <a:solidFill>
            <a:srgbClr val="8266A0"/>
          </a:solidFill>
          <a:ln w="12700">
            <a:solidFill>
              <a:srgbClr val="8266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9698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02208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210544" y="2935224"/>
            <a:ext cx="621792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A09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210544" y="2935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A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835640" y="36667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АВТОВОРОНКА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DCE6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Сначала проектируется логика пути клиента. Потом эту логику можно технологически собирать и автоматизировать — а не автоматизировать хаос.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2464308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2464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ВЫ ОТВЕТИЛИ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ПРОДАВАТЬ ПЕРВЫМ?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вопрос: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AFC6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СДЕЛАТЬ ЦЕННОСТЬ ЭТОГО ПРОДУКТА ОЧЕВИДНОЙ ДЛЯ КЛИЕНТА?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94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видите ценность своего трипвайера. А увидит ли её клиент?  →  эстафета Гульмире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328416" cy="365760"/>
          </a:xfrm>
          <a:prstGeom prst="roundRect">
            <a:avLst>
              <a:gd name="adj" fmla="val 20000"/>
            </a:avLst>
          </a:prstGeom>
          <a:solidFill>
            <a:srgbClr val="DCE6D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 · МАСТЕР-КЛАСС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Кристальная ясность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презентовать продукт так, чтобы клиент видел его ценность, а не говорил «Я подумаю».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информация о продукте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формат, длительность, объём, ключевой результат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5146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6B8F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697480"/>
            <a:ext cx="457200" cy="4572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 и конечный результат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клиента, выгоды, оффер в одном предложении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826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697480"/>
            <a:ext cx="457200" cy="457200"/>
          </a:xfrm>
          <a:prstGeom prst="ellipse">
            <a:avLst/>
          </a:prstGeom>
          <a:solidFill>
            <a:srgbClr val="8266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651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Стоимость и условия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337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 «мямления», условия, варианты оплаты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DCE6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526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3B5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 уйдёте с: продающим описанием своего продукта · структурой презентации · уверенностью назвать цену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3949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FCE9C8"/>
          </a:solidFill>
          <a:ln w="12700">
            <a:solidFill>
              <a:srgbClr val="D9A54B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5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[ВПИШИТЕ: дата · формат · стоимость · как записаться]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· ДЕНЬ 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B5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Neurovia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· ЗНАНИЯ · ВОЗМОЖНОСТИ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F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Ваш трипвайер — первый платный шаг вашей воронки.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2953</Words>
  <Application>Microsoft Office PowerPoint</Application>
  <PresentationFormat>Широкоэкранный</PresentationFormat>
  <Paragraphs>440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Пользователь</cp:lastModifiedBy>
  <cp:revision>3</cp:revision>
  <dcterms:created xsi:type="dcterms:W3CDTF">2026-09-28T11:04:25Z</dcterms:created>
  <dcterms:modified xsi:type="dcterms:W3CDTF">2026-09-28T13:56:28Z</dcterms:modified>
</cp:coreProperties>
</file>