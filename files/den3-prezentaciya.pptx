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8" r:id="rId3"/>
    <p:sldId id="286" r:id="rId4"/>
    <p:sldId id="257" r:id="rId5"/>
    <p:sldId id="259" r:id="rId6"/>
    <p:sldId id="287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419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«Меня зовут Асемгуль Жарасова. Я методолог-стратег. Моя специализация — выявление авторского метода из деятельности эксперта. Очень часто эксперт умеет получать результат, но не всегда может объяснить, как именно он это делает, из каких шагов складывается его работа и что можно передать другим. Я помогаю увидеть эту логику, извлечь из практики авторский метод и превратить его в понятную, воспроизводимую систему. Сегодня мы будем учиться видеть не просто услугу или набор знаний, а путь клиента к результату». (30–40 секунд)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Напомнить: Дни 1–2 пройдены (экспертность, сегмент, проблема, решение). Сегодняшний вопрос: что именно получает клиент?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Приветствие. Ключевая идея дня: продукт = спроектированный путь клиента А→Б, а не упаковка знаний.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79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Приветствие. Ключевая идея дня: продукт = спроектированный путь клиента А→Б, а не упаковка знаний.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«Вчера продукт появился в маршруте как шаг 5 — упакованное решение. Сегодня смотрим глубже — как на спроектированный путь изменения». Дать фразе прозвучать медленно.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Зачитать вслух 5 определений, не углубляться — 2–3 минуты. Это общий словарь на весь день.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Проговорить: «Задача сегодня — не описать путь, а спроектировать его». Мостик: хорошо спроектированный путь потом режется на продуктовую линейку (практикум «Точка входа», понедельник).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Начинаем с самого лёгкого — здесь продукт видно глазами.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Слайд-вопрос. Дать группе 2 минуты обсудить вслух/в парах ДО того как открыть следующий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Гипотеза методолога. Проговорить вывод: кухня — физический носитель, настоящий продукт — организованное изменение пространства.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РЕЗЕРВНЫЙ кейс — включать только если группа прошла кейс 1 быстро. Иначе — сразу к слайду 11 (вывод).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Резерв, реплика: одна и та же услуга может давать разные продукты — в зависимости от А и Б конкретного клиента.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Продукт ≠ объект. Продукт = изменение, которое получает клиент.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Физического объекта больше нет — тренируем видеть изменение в деятельности, а не в вещи.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Слайд-вопрос. 2 минуты на обсуждение в парах.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Бухгалтер продаёт не «отчётность» — а переход бизнеса от финансового хаоса к управляемой системе.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РЕЗЕРВНЫЙ кейс — включать только при запасе времени.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Резерв, вывод: продукт — не «консультация», а конкретный выбор направления + план действий.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ВАЖНО: называть вслух только те кейсы, которые реально разобрали в этой группе — не упоминать невключённые резервы. Вывод: везде есть А → изменение → 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Кульминация практикума — отрепетировать отдельно заранее! Правило вслух: «Я не прошу оценивать метод — прошу сделать то же самое, что мы делали с кухней».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Слайд-вопрос. Дать 2 минуты в мини-группах.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обсуждаем метод психолога. Спрашиваем: как мы поймём, что изменение произошло?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РЕЗЕРВНЫЙ кейс — только если есть запас времени.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Резерв, вывод: нумерологический расчёт может быть инструментом продукта, а не самим продуктом.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Формула уровня 3 — дать прозвучать, не комментировать сразу.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Вопрос вслух: «Что из этого список — продукт?» Подвести к ответу: само по себе — ничего, это инструмент внутри продукта.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Держать время ЖЁСТКО — самый рискованный по таймингу блок. Предупредить группу за 3 минуты до конца. Тетрадь стр.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«Теперь назовите свой продукт» — сравнить с тем, как называли в начале дня.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2–3 человека делятся вслух: «Раньше я думал... Теперь вижу...»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Мостик к практикуму «Точка входа» (понедельник). Тетрадь стр. 8 — Паспорт продукта, переход из 5 шагов.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Финальный слайд — бренд, попрощаться, поблагодарить.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5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44694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7680960" cy="384048"/>
          </a:xfrm>
          <a:prstGeom prst="roundRect">
            <a:avLst>
              <a:gd name="adj" fmla="val 19048"/>
            </a:avLst>
          </a:prstGeom>
          <a:solidFill>
            <a:srgbClr val="DCE6D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 · АВТОРСКИЕ МЕТОДЫ · ЭКСПЕРТНЫЕ СИСТЕМЫ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Асемгуль Жарасова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F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Методолог-стратег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E7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Выявляю авторские методы из деятельности экспертов и превращаю их в работающие системы.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59" y="3474720"/>
            <a:ext cx="10753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лет в </a:t>
            </a:r>
            <a:r>
              <a:rPr lang="kk-KZ" sz="1250" dirty="0" smtClean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образовательной сфере</a:t>
            </a:r>
            <a:r>
              <a:rPr lang="ru-RU" sz="1250" dirty="0" smtClean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с 2008 года в предпринимательстве. Область научных интересов: когнитивные процессы и проектирование деятельности. 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23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Моя специализация — увидеть логику успешной практики, сделать скрытое знание явным и превратить личный опыт эксперта в понятную методологию.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074920"/>
            <a:ext cx="9601200" cy="960120"/>
          </a:xfrm>
          <a:prstGeom prst="roundRect">
            <a:avLst>
              <a:gd name="adj" fmla="val 9524"/>
            </a:avLst>
          </a:prstGeom>
          <a:solidFill>
            <a:srgbClr val="2E4A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507492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«Я просто умею это делать» — к «Я знаю, как это работает и могу этому научить».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мы сейчас на маршруте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Экспертность ✓  Сегмент ✓  Проблема ✓  Решение ✓ — сегодня следующая остановка.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5097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76453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57809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39165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20521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001877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2918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089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-4572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ЭКСПЕРТНОСТЬ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4274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8F7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4274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76784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5630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73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5630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58140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986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A2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986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83424" y="2935224"/>
            <a:ext cx="621792" cy="621792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342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0852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39698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266A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9698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2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02208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121054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FA09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21054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A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83564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АВТОВОРОНКА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77440" y="4572000"/>
            <a:ext cx="7406640" cy="822960"/>
          </a:xfrm>
          <a:prstGeom prst="roundRect">
            <a:avLst>
              <a:gd name="adj" fmla="val 8889"/>
            </a:avLst>
          </a:prstGeom>
          <a:solidFill>
            <a:srgbClr val="DCE6D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560320" y="45720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Сегодняшний вопрос: «Что именно получает клиент в результате моей работы?»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44694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ПРАКТИКУМ · ДЕНЬ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800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Дайте определение:</a:t>
            </a:r>
          </a:p>
          <a:p>
            <a:pPr marL="0" indent="0">
              <a:buNone/>
            </a:pPr>
            <a:endParaRPr lang="ru-RU" sz="4800" dirty="0">
              <a:solidFill>
                <a:srgbClr val="FFFFFF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buNone/>
            </a:pPr>
            <a:r>
              <a:rPr lang="ru-RU" sz="4800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Что такое продукт?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dirty="0">
                <a:solidFill>
                  <a:srgbClr val="E7E2D2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1981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B5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44694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ПРАКТИКУМ · ДЕНЬ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800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Важно: </a:t>
            </a:r>
            <a:r>
              <a:rPr lang="en-US" sz="4800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Увидеть</a:t>
            </a:r>
            <a:r>
              <a:rPr lang="en-US" sz="4800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5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84069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9F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Эксперт думает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dirty="0" err="1">
                <a:solidFill>
                  <a:srgbClr val="9F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содержанием</a:t>
            </a:r>
            <a:r>
              <a:rPr lang="en-US" sz="4000" dirty="0" smtClean="0">
                <a:solidFill>
                  <a:srgbClr val="9F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918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Клиент покупает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изменение.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4864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— это не вещь и не услуга. Продукт — это изменение, которое организует эта вещь или услуга.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44731" y="-495151"/>
            <a:ext cx="10580915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/>
              <a:t>                                                                     </a:t>
            </a:r>
            <a:r>
              <a:rPr lang="ru-RU" sz="2000" b="1" dirty="0"/>
              <a:t>"</a:t>
            </a:r>
            <a:r>
              <a:rPr lang="ru-RU" sz="2000" b="1" dirty="0" err="1"/>
              <a:t>Тибёр</a:t>
            </a:r>
            <a:r>
              <a:rPr lang="ru-RU" sz="2000" b="1" dirty="0"/>
              <a:t> </a:t>
            </a:r>
            <a:r>
              <a:rPr lang="ru-RU" sz="2000" b="1" dirty="0" err="1"/>
              <a:t>Илац</a:t>
            </a:r>
            <a:r>
              <a:rPr lang="ru-RU" sz="2000" b="1" dirty="0"/>
              <a:t>"      </a:t>
            </a:r>
          </a:p>
          <a:p>
            <a:endParaRPr lang="ru-RU" dirty="0"/>
          </a:p>
          <a:p>
            <a:pPr algn="ctr"/>
            <a:r>
              <a:rPr lang="ru-RU" dirty="0" smtClean="0"/>
              <a:t>(</a:t>
            </a:r>
            <a:r>
              <a:rPr lang="ru-RU" dirty="0"/>
              <a:t>Название "</a:t>
            </a:r>
            <a:r>
              <a:rPr lang="ru-RU" dirty="0" err="1"/>
              <a:t>Тибёр</a:t>
            </a:r>
            <a:r>
              <a:rPr lang="ru-RU" dirty="0"/>
              <a:t> </a:t>
            </a:r>
            <a:r>
              <a:rPr lang="ru-RU" dirty="0" err="1"/>
              <a:t>Илац</a:t>
            </a:r>
            <a:r>
              <a:rPr lang="ru-RU" dirty="0"/>
              <a:t>" происходит от горного племени в Индии, и это примерно означает </a:t>
            </a:r>
          </a:p>
          <a:p>
            <a:pPr algn="ctr"/>
            <a:r>
              <a:rPr lang="ru-RU" dirty="0"/>
              <a:t>"церемониальный обряд посвящение во взрослые").</a:t>
            </a:r>
          </a:p>
          <a:p>
            <a:r>
              <a:rPr lang="ru-RU" dirty="0"/>
              <a:t>     Это довольно легко осуществить. Во-первых, следует решить, в какой последовательности будет выполняться действие. Некоторые решат пойти сверху вниз, другие же сделают и то и другое или нечто совсем иное.</a:t>
            </a:r>
          </a:p>
          <a:p>
            <a:r>
              <a:rPr lang="ru-RU" dirty="0"/>
              <a:t> </a:t>
            </a:r>
            <a:r>
              <a:rPr lang="ru-RU" dirty="0" smtClean="0"/>
              <a:t>    Необходимо </a:t>
            </a:r>
            <a:r>
              <a:rPr lang="ru-RU" dirty="0"/>
              <a:t>обеспечить, чтобы у каждого был правильный инструмент для хорошей работы и знать, когда ключевой компонент этого более не эффективен. Чрезвычайно важно понять, как правильно использовать инструмент, необходимый для этой операции, поскольку его небрежное использование может привести к нанесению значимого вреда. Сначала это действие потребует чрезвычайного внимания, но в конечном счете большинство закончит его быстро и благополучно. </a:t>
            </a:r>
          </a:p>
          <a:p>
            <a:r>
              <a:rPr lang="ru-RU" dirty="0" smtClean="0"/>
              <a:t>    Некоторые </a:t>
            </a:r>
            <a:r>
              <a:rPr lang="ru-RU" dirty="0"/>
              <a:t>предпочитают длинные движения, другие несколько раз быстро проводят в одном месте, прежде чем перейти к другому. Большинство будет наносить вещество, что позволяет легче выполнить действие, хотя очень немногие предпочитают минимизировать использование чего-нибудь кроме этого инструмента. </a:t>
            </a:r>
          </a:p>
          <a:p>
            <a:r>
              <a:rPr lang="ru-RU" dirty="0" smtClean="0"/>
              <a:t>    После </a:t>
            </a:r>
            <a:r>
              <a:rPr lang="ru-RU" dirty="0"/>
              <a:t>завершения процедуры инструмент должен содержаться должным образом, а некоторые захотят нанести заключительное вещество, что будет и практично, и приятно. Несмотря на некоторые мнения, эту процедуру необходимо выполнять постоянно.</a:t>
            </a:r>
          </a:p>
        </p:txBody>
      </p:sp>
    </p:spTree>
    <p:extLst>
      <p:ext uri="{BB962C8B-B14F-4D97-AF65-F5344CB8AC3E}">
        <p14:creationId xmlns:p14="http://schemas.microsoft.com/office/powerpoint/2010/main" val="4201358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ПРЕЖДЕ ЧЕМ НАЧАТЬ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понятий, с которыми работаем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834640" cy="658368"/>
          </a:xfrm>
          <a:prstGeom prst="roundRect">
            <a:avLst>
              <a:gd name="adj" fmla="val 8333"/>
            </a:avLst>
          </a:prstGeom>
          <a:solidFill>
            <a:srgbClr val="D973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11880" y="1920240"/>
            <a:ext cx="79095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0" y="19202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конкретный человек с конкретной ситуацией — а не сегмент и </a:t>
            </a:r>
            <a:r>
              <a:rPr lang="en-US" sz="1250" dirty="0" err="1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50" dirty="0" smtClean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обобщенный портрет.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06624"/>
            <a:ext cx="2834640" cy="658368"/>
          </a:xfrm>
          <a:prstGeom prst="roundRect">
            <a:avLst>
              <a:gd name="adj" fmla="val 8333"/>
            </a:avLst>
          </a:prstGeom>
          <a:solidFill>
            <a:srgbClr val="D4A24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70662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11880" y="2706624"/>
            <a:ext cx="79095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270662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становится другим в его жизни или деятельности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493008"/>
            <a:ext cx="2834640" cy="658368"/>
          </a:xfrm>
          <a:prstGeom prst="roundRect">
            <a:avLst>
              <a:gd name="adj" fmla="val 8333"/>
            </a:avLst>
          </a:prstGeom>
          <a:solidFill>
            <a:srgbClr val="4A6FA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4930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КЛИЕНТА (А → Б)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11880" y="3493008"/>
            <a:ext cx="79095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0" y="349300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последовательность шагов, которая приводит от начального состояния к изменению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279392"/>
            <a:ext cx="2834640" cy="658368"/>
          </a:xfrm>
          <a:prstGeom prst="roundRect">
            <a:avLst>
              <a:gd name="adj" fmla="val 8333"/>
            </a:avLst>
          </a:prstGeom>
          <a:solidFill>
            <a:srgbClr val="6B8F7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27939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11880" y="4279392"/>
            <a:ext cx="79095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40480" y="427939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спроектированный, воспроизводимый путь клиента от А к Б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065776"/>
            <a:ext cx="2834640" cy="658368"/>
          </a:xfrm>
          <a:prstGeom prst="roundRect">
            <a:avLst>
              <a:gd name="adj" fmla="val 8333"/>
            </a:avLst>
          </a:prstGeom>
          <a:solidFill>
            <a:srgbClr val="8266A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06577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11880" y="5065776"/>
            <a:ext cx="79095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40480" y="5065776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сознательное конструирование этого пути — а не описание того, что получилось само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89788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DCE6D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897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Сегодня мы учимся проектировать путь клиента. Это и есть основа будущей продуктовой линейки.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СХЕМА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Путь клиента — это и есть продукт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965960" y="3108960"/>
            <a:ext cx="8229600" cy="0"/>
          </a:xfrm>
          <a:prstGeom prst="line">
            <a:avLst/>
          </a:prstGeom>
          <a:noFill/>
          <a:ln w="31750">
            <a:solidFill>
              <a:srgbClr val="C9BFA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60120" y="2606040"/>
            <a:ext cx="1005840" cy="1005840"/>
          </a:xfrm>
          <a:prstGeom prst="ellipse">
            <a:avLst/>
          </a:prstGeom>
          <a:solidFill>
            <a:srgbClr val="D973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195560" y="2606040"/>
            <a:ext cx="1005840" cy="100584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9556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78408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65576" y="2962656"/>
            <a:ext cx="292608" cy="292608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13" name="Shape 11"/>
          <p:cNvSpPr/>
          <p:nvPr/>
        </p:nvSpPr>
        <p:spPr>
          <a:xfrm>
            <a:off x="5111496" y="2962656"/>
            <a:ext cx="292608" cy="292608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14" name="Shape 12"/>
          <p:cNvSpPr/>
          <p:nvPr/>
        </p:nvSpPr>
        <p:spPr>
          <a:xfrm>
            <a:off x="6757416" y="2962656"/>
            <a:ext cx="292608" cy="292608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15" name="Shape 13"/>
          <p:cNvSpPr/>
          <p:nvPr/>
        </p:nvSpPr>
        <p:spPr>
          <a:xfrm>
            <a:off x="8403336" y="2962656"/>
            <a:ext cx="292608" cy="292608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463040" y="342900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· шаг · шаг · шаг — путь между А и 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63040" y="4663440"/>
            <a:ext cx="9235440" cy="868680"/>
          </a:xfrm>
          <a:prstGeom prst="roundRect">
            <a:avLst>
              <a:gd name="adj" fmla="val 8421"/>
            </a:avLst>
          </a:prstGeom>
          <a:solidFill>
            <a:srgbClr val="DCE6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645920" y="466344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 сегодня — не описать путь, а спроектировать его.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562356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спроектированный путь потом можно разрезать на продуктовую линейку — об этом на следующем занятии.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Материальный мир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Начинаем с самого лёгкого — здесь продукт видно глазами. Дальше разберём несколько кейсов вместе.</a:t>
            </a:r>
            <a:endParaRPr lang="en-US" sz="1500" dirty="0"/>
          </a:p>
        </p:txBody>
      </p:sp>
      <p:pic>
        <p:nvPicPr>
          <p:cNvPr id="6" name="Image 0" descr="/home/claude/icons/mater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0"/>
            <a:ext cx="2651760" cy="2651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1 · КЕЙС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Кухня на заказ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«Маленькая кухня. Всё стоит неудобно, не хватает места, постоянно приходится что-то переставлять»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D9736B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61688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D4A24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544568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083296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6B8F7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266176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DCE6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7091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Ваша версия? Обсудите 2 минуты — где здесь А, Б и что между ними?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3B5D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МЕТОДОЛОГА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Кухня на заказ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73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 места, неудобное хранение, рабочая зона организована плохо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выяснить потребности → измерить пространство → спроектировать → изготовить → установить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83296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66176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необходимое помещается, удобно готовить, пространство используется эффективно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DCE6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02336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Кухня — физический носитель продукта. Настоящий продукт — организованное изменение пространства клиента.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1 · КЕЙС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509760" y="5486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EFD9B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548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Фотограф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«Мне нужна фотосессия»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D9736B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22960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61688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D4A24E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544568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83296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6B8F71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66176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66176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DCE6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7091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Ваша версия? Обсудите 2 минуты — где здесь А, Б и что между ними?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3B5D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МЕТОДОЛОГА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509760" y="5486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EFD9B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548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Фотограф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73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качественных фото для профессионального позиционирования / не умею себя показывать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4568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бриф → концепция образа → съёмка → отбор → ретушь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83296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66176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визуальный материал для профиля и сайта / есть образ, в котором могу себя предъявлять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DCE6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02336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 та же услуга может иметь разные продукты — в зависимости от того, какая именно А и Б у конкретного клиента.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· УРОВЕНЬ 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560320"/>
            <a:ext cx="10515600" cy="1645920"/>
          </a:xfrm>
          <a:prstGeom prst="roundRect">
            <a:avLst>
              <a:gd name="adj" fmla="val 5556"/>
            </a:avLst>
          </a:prstGeom>
          <a:solidFill>
            <a:srgbClr val="DCE6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560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 ≠ объект.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 = изменение, которое получает клиент.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Интеллектуальный мир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Физического объекта больше нет. Тренируем видеть изменение в деятельности, а не в вещи.</a:t>
            </a:r>
            <a:endParaRPr lang="en-US" sz="1500" dirty="0"/>
          </a:p>
        </p:txBody>
      </p:sp>
      <p:pic>
        <p:nvPicPr>
          <p:cNvPr id="6" name="Image 0" descr="/home/claude/icons/intell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0"/>
            <a:ext cx="2651760" cy="2651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2 · КЕЙС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Бухгалтер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«Мне нужен бухгалтер»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D9736B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61688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D4A24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544568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083296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6B8F7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266176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DCE6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7091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Ваша версия? Обсудите 2 минуты — где здесь А, Б и что между ними?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3B5D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МЕТОДОЛОГА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Бухгалтер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73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понимает, что происходит с финансами бизнеса, боится ошибок, тратит время на отчётность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хаос → диагностика → система → регулярное управление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83296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66176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понимает финансовую картину, знает обязательства, отчётность ведётся системно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DCE6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02336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Бухгалтер продаёт не «отчётность» — а переход бизнеса от финансового хаоса к управляемой системе.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2 · КЕЙС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509760" y="5486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EFD9B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548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Карьерный консультант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10 лет работаю в одной сфере, но не понимаю, куда двигаться дальше»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D9736B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22960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61688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D4A24E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544568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83296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6B8F71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66176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66176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DCE6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7091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Ваша версия? Обсудите 2 минуты — где здесь А, Б и что между ними?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3B5D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МЕТОДОЛОГА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509760" y="5486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EFD9B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548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Карьерный консультант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73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понимает варианты профессионального движения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4568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опыта → выявление ресурсов → варианты → критерии выбора → решение → план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83296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66176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имеет обоснованный вариант следующего профессионального шага и план его реализации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DCE6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02336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— не «консультация», а конкретный выбор направления плюс план действий.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· УРОВЕНЬ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560320"/>
            <a:ext cx="10515600" cy="1645920"/>
          </a:xfrm>
          <a:prstGeom prst="roundRect">
            <a:avLst>
              <a:gd name="adj" fmla="val 5556"/>
            </a:avLst>
          </a:prstGeom>
          <a:solidFill>
            <a:srgbClr val="DCE6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560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общего между всеми кейсами, которые мы сегодня разобрали?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Везде есть А → изменение → Б.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 smtClean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3 · 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Магический / трансформационный мир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оцениваем метод. Мы ищем изменение.</a:t>
            </a:r>
            <a:endParaRPr lang="en-US" sz="1600" dirty="0"/>
          </a:p>
        </p:txBody>
      </p:sp>
      <p:pic>
        <p:nvPicPr>
          <p:cNvPr id="6" name="Image 0" descr="/home/claude/icons/transform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868680"/>
            <a:ext cx="1783080" cy="1783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3200400"/>
            <a:ext cx="9601200" cy="1463040"/>
          </a:xfrm>
          <a:prstGeom prst="roundRect">
            <a:avLst>
              <a:gd name="adj" fmla="val 6250"/>
            </a:avLst>
          </a:prstGeom>
          <a:solidFill>
            <a:srgbClr val="2C357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88720" y="3200400"/>
            <a:ext cx="8869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«Если ваш результат нельзя положить на стол — как вы докажете себе и клиенту, что изменение произошло?»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029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спорим: работает ли метод. Спрашиваем: что происходит с клиентом.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3 · КЕЙС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Психолог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постоянно попадаю в один и тот же конфликт»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D9736B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61688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D4A24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544568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083296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6B8F7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266176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DCE6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7091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Ваша версия? Обсудите 2 минуты — где здесь А, Б и что между ними?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3B5D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МЕТОДОЛОГА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Психолог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73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повторяющаяся ситуация; не понимает механизма; реагирует привычно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осознание → различение → новый способ → практика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83296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66176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замечает механизм; выбирает другую стратегию; действует иначе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DCE6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02336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обсуждаем метод психолога. Спрашиваем: как мы поймём, что изменение произошло?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3 · КЕЙС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509760" y="5486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EFD9B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548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Нумеролог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«Хочу узнать своё предназначение»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D9736B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22960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61688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D4A24E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544568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83296" y="2514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F8F0"/>
          </a:solidFill>
          <a:ln w="19050">
            <a:solidFill>
              <a:srgbClr val="6B8F71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66176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66176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dirty="0">
                <a:solidFill>
                  <a:srgbClr val="C9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DCE6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7091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Ваша версия? Обсудите 2 минуты — где здесь А, Б и что между ними?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3B5D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МЕТОДОЛОГА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509760" y="5486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EFD9B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548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Нумеролог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73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неопределённость относительно выбора направления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4568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→ интерпретация → рефлексия → формулирование вопросов → выбор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83296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66176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2377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сформулировал несколько вариантов и выбрал направление дальнейшего действия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DCE6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02336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Нумерологический расчёт может быть инструментом продукта, а не самим продуктом.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B5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AFC6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менее материален результат,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175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тем точнее нужно </a:t>
            </a:r>
            <a:r>
              <a:rPr lang="en-US" sz="320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операционализировать</a:t>
            </a: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изменение</a:t>
            </a:r>
            <a:r>
              <a:rPr lang="ru-RU" sz="3200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(перевести на язык действий)</a:t>
            </a:r>
            <a:r>
              <a:rPr lang="en-US" sz="3200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Инструмент — не продукт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из этого является продуктом само по себе?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514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5146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2514600"/>
            <a:ext cx="2514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25146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консультация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2514600"/>
            <a:ext cx="2514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25146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95360" y="2514600"/>
            <a:ext cx="2514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0" y="25146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2514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4290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3429000"/>
            <a:ext cx="2514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91840" y="34290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0" y="3429000"/>
            <a:ext cx="2514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0" y="34290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95360" y="3429000"/>
            <a:ext cx="2514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0" y="34290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упражнение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DCE6D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7091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 по себе — ничего. Это может быть инструментом внутри продукта: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→ понимание → решение → действие.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Теперь — ваш продукт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Заполните 5 полей в тетради на странице 6.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365760" cy="365760"/>
          </a:xfrm>
          <a:prstGeom prst="ellipse">
            <a:avLst/>
          </a:prstGeom>
          <a:solidFill>
            <a:srgbClr val="B0896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5146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клиент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18688"/>
            <a:ext cx="365760" cy="36576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17296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приходит в состоянии 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877056"/>
            <a:ext cx="365760" cy="365760"/>
          </a:xfrm>
          <a:prstGeom prst="ellipse">
            <a:avLst/>
          </a:prstGeom>
          <a:solidFill>
            <a:srgbClr val="D973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3133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 разрыв: хочет ___, но не может ___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535424"/>
            <a:ext cx="365760" cy="365760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535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48970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должен прийти в состояние Б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5193792"/>
            <a:ext cx="365760" cy="36576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5193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14807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должно произойти между А и Б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 ПРОДУКТА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Назовите свой продукт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2377440"/>
          </a:xfrm>
          <a:prstGeom prst="roundRect">
            <a:avLst>
              <a:gd name="adj" fmla="val 3846"/>
            </a:avLst>
          </a:prstGeom>
          <a:solidFill>
            <a:srgbClr val="3B5D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01168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 помогаю [кому] перейти от [Точка А] к [Точка Б]</a:t>
            </a:r>
            <a:endParaRPr lang="en-US" sz="2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через [основной путь],</a:t>
            </a:r>
            <a:endParaRPr lang="en-US" sz="2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чтобы клиент смог [результат].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663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 с тем, как вы называли продукт в начале дня. Что изменилось?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B5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i="1" dirty="0">
                <a:solidFill>
                  <a:srgbClr val="AFC6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«Раньше я думал(а), что мой продукт — это ___.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17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Теперь я вижу, что мой продукт — это ___».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Поделитесь вслух, если готовы.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ПРОДОЛЖАЕТСЯ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 есть. Что дальше?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5097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76453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57809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39165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20521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001877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2918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089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-4572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ЭКСПЕРТНОСТЬ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274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8F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4274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76784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5630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73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5630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58140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6986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A2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986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8342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6FA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342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0852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396984" y="2935224"/>
            <a:ext cx="621792" cy="621792"/>
          </a:xfrm>
          <a:prstGeom prst="ellipse">
            <a:avLst/>
          </a:prstGeom>
          <a:solidFill>
            <a:srgbClr val="8266A0"/>
          </a:solidFill>
          <a:ln w="12700">
            <a:solidFill>
              <a:srgbClr val="8266A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9698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02208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21054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FA09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21054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A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83564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АВТОВОРОНКА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2960" y="457200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DCE6D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97280" y="457200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продукт — не монолит. Внутри него уже есть швы: переходы из вашего Паспорта продукта (страница 8).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следующем блоке мы научимся резать продукт по этим швам — так, чтобы каждый кусок сам себя продавал.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 ПРОДУКТ · ДЕНЬ 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B5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Neurovia Lab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 · ЗНАНИЯ · ВОЗМОЖНОСТИ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F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 До встречи на следующем шаге маршрута.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2286</Words>
  <Application>Microsoft Office PowerPoint</Application>
  <PresentationFormat>Широкоэкранный</PresentationFormat>
  <Paragraphs>347</Paragraphs>
  <Slides>32</Slides>
  <Notes>31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6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Пользователь</cp:lastModifiedBy>
  <cp:revision>12</cp:revision>
  <dcterms:created xsi:type="dcterms:W3CDTF">2026-09-25T06:48:01Z</dcterms:created>
  <dcterms:modified xsi:type="dcterms:W3CDTF">2026-09-25T13:45:32Z</dcterms:modified>
</cp:coreProperties>
</file>